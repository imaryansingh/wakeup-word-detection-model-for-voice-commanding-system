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4" autoAdjust="0"/>
    <p:restoredTop sz="95461" autoAdjust="0"/>
  </p:normalViewPr>
  <p:slideViewPr>
    <p:cSldViewPr snapToGrid="0">
      <p:cViewPr>
        <p:scale>
          <a:sx n="66" d="100"/>
          <a:sy n="66" d="100"/>
        </p:scale>
        <p:origin x="668" y="1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1ED43-D58D-4720-A24F-531848274B26}" type="datetimeFigureOut">
              <a:rPr lang="en-IN" smtClean="0"/>
              <a:t>10-04-2025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A909A-4F70-4343-87E1-4DEA8B24A1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50078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1ED43-D58D-4720-A24F-531848274B26}" type="datetimeFigureOut">
              <a:rPr lang="en-IN" smtClean="0"/>
              <a:t>10-04-2025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A909A-4F70-4343-87E1-4DEA8B24A1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74306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1ED43-D58D-4720-A24F-531848274B26}" type="datetimeFigureOut">
              <a:rPr lang="en-IN" smtClean="0"/>
              <a:t>10-04-2025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A909A-4F70-4343-87E1-4DEA8B24A1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86937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1ED43-D58D-4720-A24F-531848274B26}" type="datetimeFigureOut">
              <a:rPr lang="en-IN" smtClean="0"/>
              <a:t>10-04-2025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A909A-4F70-4343-87E1-4DEA8B24A1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27352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1ED43-D58D-4720-A24F-531848274B26}" type="datetimeFigureOut">
              <a:rPr lang="en-IN" smtClean="0"/>
              <a:t>10-04-2025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A909A-4F70-4343-87E1-4DEA8B24A1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7094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1ED43-D58D-4720-A24F-531848274B26}" type="datetimeFigureOut">
              <a:rPr lang="en-IN" smtClean="0"/>
              <a:t>10-04-2025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A909A-4F70-4343-87E1-4DEA8B24A1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80413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1ED43-D58D-4720-A24F-531848274B26}" type="datetimeFigureOut">
              <a:rPr lang="en-IN" smtClean="0"/>
              <a:t>10-04-2025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A909A-4F70-4343-87E1-4DEA8B24A1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22618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1ED43-D58D-4720-A24F-531848274B26}" type="datetimeFigureOut">
              <a:rPr lang="en-IN" smtClean="0"/>
              <a:t>10-04-2025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A909A-4F70-4343-87E1-4DEA8B24A1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58246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1ED43-D58D-4720-A24F-531848274B26}" type="datetimeFigureOut">
              <a:rPr lang="en-IN" smtClean="0"/>
              <a:t>10-04-2025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A909A-4F70-4343-87E1-4DEA8B24A1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02907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1ED43-D58D-4720-A24F-531848274B26}" type="datetimeFigureOut">
              <a:rPr lang="en-IN" smtClean="0"/>
              <a:t>10-04-2025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A909A-4F70-4343-87E1-4DEA8B24A1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95858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1ED43-D58D-4720-A24F-531848274B26}" type="datetimeFigureOut">
              <a:rPr lang="en-IN" smtClean="0"/>
              <a:t>10-04-2025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A909A-4F70-4343-87E1-4DEA8B24A1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59704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51ED43-D58D-4720-A24F-531848274B26}" type="datetimeFigureOut">
              <a:rPr lang="en-IN" smtClean="0"/>
              <a:t>10-04-2025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EA909A-4F70-4343-87E1-4DEA8B24A1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64231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nutan@sac.isro.gov.in" TargetMode="External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674918"/>
            <a:ext cx="5377544" cy="805538"/>
          </a:xfrm>
          <a:prstGeom prst="rect">
            <a:avLst/>
          </a:prstGeom>
          <a:ln w="381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en-US" sz="1500" b="1" dirty="0"/>
              <a:t>Name: </a:t>
            </a:r>
            <a:r>
              <a:rPr lang="en-US" sz="1500" dirty="0"/>
              <a:t>Aryan Singh</a:t>
            </a:r>
            <a:endParaRPr lang="en-US" sz="1500" b="1" dirty="0"/>
          </a:p>
          <a:p>
            <a:pPr algn="just"/>
            <a:r>
              <a:rPr lang="en-US" sz="1500" b="1" dirty="0"/>
              <a:t>Designation:  </a:t>
            </a:r>
            <a:r>
              <a:rPr lang="en-US" sz="1500" dirty="0"/>
              <a:t>Researcher/Intern</a:t>
            </a:r>
          </a:p>
          <a:p>
            <a:pPr algn="just"/>
            <a:r>
              <a:rPr lang="en-US" sz="1500" b="1" dirty="0"/>
              <a:t>Institution:</a:t>
            </a:r>
            <a:r>
              <a:rPr lang="en-US" sz="1200" b="1" dirty="0"/>
              <a:t> </a:t>
            </a:r>
            <a:r>
              <a:rPr lang="en-US" sz="1500" dirty="0"/>
              <a:t>Mohanlal Sukhadia University, Udaipur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000" cy="674914"/>
          </a:xfrm>
          <a:prstGeom prst="rect">
            <a:avLst/>
          </a:prstGeom>
          <a:ln w="381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685800" algn="ctr">
              <a:tabLst>
                <a:tab pos="11201400" algn="l"/>
              </a:tabLst>
            </a:pPr>
            <a:r>
              <a:rPr lang="en-US" dirty="0"/>
              <a:t>DEVELOPMENT OF WAKEUP WORD DETECTION MODEL</a:t>
            </a:r>
          </a:p>
          <a:p>
            <a:pPr marL="685800" algn="ctr">
              <a:tabLst>
                <a:tab pos="11201400" algn="l"/>
              </a:tabLst>
            </a:pPr>
            <a:r>
              <a:rPr lang="en-US" dirty="0"/>
              <a:t> FOR VOICE COMMANDING SYSTEM</a:t>
            </a:r>
          </a:p>
        </p:txBody>
      </p:sp>
      <p:sp>
        <p:nvSpPr>
          <p:cNvPr id="6" name="Rectangle 5"/>
          <p:cNvSpPr/>
          <p:nvPr/>
        </p:nvSpPr>
        <p:spPr>
          <a:xfrm>
            <a:off x="-1" y="1491405"/>
            <a:ext cx="10611853" cy="1238680"/>
          </a:xfrm>
          <a:prstGeom prst="rect">
            <a:avLst/>
          </a:prstGeom>
          <a:ln w="381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500" b="1" dirty="0"/>
              <a:t>MAJOR OBJECTIVES: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Develop an efficient wake word detection model.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Train a custom model using collected audio data.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Implement real-time detection with low latency for payload activation.</a:t>
            </a:r>
            <a:endParaRPr lang="en-US" sz="1500" b="1" dirty="0"/>
          </a:p>
        </p:txBody>
      </p:sp>
      <p:sp>
        <p:nvSpPr>
          <p:cNvPr id="7" name="Rectangle 6"/>
          <p:cNvSpPr/>
          <p:nvPr/>
        </p:nvSpPr>
        <p:spPr>
          <a:xfrm>
            <a:off x="10611853" y="674913"/>
            <a:ext cx="1580147" cy="1490765"/>
          </a:xfrm>
          <a:prstGeom prst="rect">
            <a:avLst/>
          </a:prstGeom>
          <a:ln w="381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PHOTO</a:t>
            </a:r>
            <a:endParaRPr lang="en-IN" dirty="0"/>
          </a:p>
        </p:txBody>
      </p:sp>
      <p:sp>
        <p:nvSpPr>
          <p:cNvPr id="8" name="Rectangle 7"/>
          <p:cNvSpPr/>
          <p:nvPr/>
        </p:nvSpPr>
        <p:spPr>
          <a:xfrm>
            <a:off x="-1" y="2719137"/>
            <a:ext cx="3995057" cy="4138863"/>
          </a:xfrm>
          <a:prstGeom prst="rect">
            <a:avLst/>
          </a:prstGeom>
          <a:ln w="381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endParaRPr lang="en-US" sz="1500" b="1" dirty="0"/>
          </a:p>
          <a:p>
            <a:pPr algn="just"/>
            <a:r>
              <a:rPr lang="en-US" sz="1500" b="1" dirty="0"/>
              <a:t>METHODOLOGY FLOW CHART: </a:t>
            </a:r>
            <a:r>
              <a:rPr lang="en-US" sz="1500" dirty="0" err="1"/>
              <a:t>Vosk</a:t>
            </a:r>
            <a:r>
              <a:rPr lang="en-US" sz="1500" dirty="0"/>
              <a:t> and Custom Model flow Chart</a:t>
            </a:r>
            <a:r>
              <a:rPr lang="en-US" sz="1500" b="1" dirty="0"/>
              <a:t>  </a:t>
            </a:r>
          </a:p>
          <a:p>
            <a:pPr algn="just"/>
            <a:endParaRPr lang="en-US" sz="1500" b="1" dirty="0"/>
          </a:p>
          <a:p>
            <a:pPr algn="just"/>
            <a:endParaRPr lang="en-US" sz="1500" b="1" dirty="0"/>
          </a:p>
          <a:p>
            <a:pPr algn="just"/>
            <a:endParaRPr lang="en-US" sz="1500" b="1" dirty="0"/>
          </a:p>
          <a:p>
            <a:pPr algn="just"/>
            <a:endParaRPr lang="en-US" sz="1500" b="1" dirty="0"/>
          </a:p>
          <a:p>
            <a:pPr algn="just"/>
            <a:endParaRPr lang="en-US" sz="1500" b="1" dirty="0"/>
          </a:p>
          <a:p>
            <a:pPr algn="just"/>
            <a:endParaRPr lang="en-US" sz="1500" b="1" dirty="0"/>
          </a:p>
          <a:p>
            <a:pPr algn="just"/>
            <a:endParaRPr lang="en-US" sz="1500" b="1" dirty="0"/>
          </a:p>
          <a:p>
            <a:pPr algn="just"/>
            <a:endParaRPr lang="en-US" sz="1500" b="1" dirty="0"/>
          </a:p>
          <a:p>
            <a:pPr algn="just"/>
            <a:endParaRPr lang="en-US" sz="1500" b="1" dirty="0"/>
          </a:p>
          <a:p>
            <a:pPr algn="just"/>
            <a:endParaRPr lang="en-US" sz="1500" b="1" dirty="0"/>
          </a:p>
          <a:p>
            <a:pPr algn="just"/>
            <a:endParaRPr lang="en-US" sz="1500" b="1" dirty="0"/>
          </a:p>
          <a:p>
            <a:pPr algn="just"/>
            <a:endParaRPr lang="en-US" sz="1500" b="1" dirty="0"/>
          </a:p>
          <a:p>
            <a:pPr algn="just"/>
            <a:endParaRPr lang="en-US" sz="1500" b="1" dirty="0"/>
          </a:p>
          <a:p>
            <a:pPr algn="just"/>
            <a:endParaRPr lang="en-US" sz="1500" b="1" dirty="0"/>
          </a:p>
          <a:p>
            <a:pPr algn="just"/>
            <a:endParaRPr lang="en-US" sz="1500" b="1" dirty="0"/>
          </a:p>
          <a:p>
            <a:pPr algn="just"/>
            <a:endParaRPr lang="en-US" sz="1500" b="1" dirty="0"/>
          </a:p>
          <a:p>
            <a:pPr algn="just"/>
            <a:endParaRPr lang="en-IN" sz="1500" b="1" dirty="0"/>
          </a:p>
        </p:txBody>
      </p:sp>
      <p:sp>
        <p:nvSpPr>
          <p:cNvPr id="9" name="Rectangle 8"/>
          <p:cNvSpPr/>
          <p:nvPr/>
        </p:nvSpPr>
        <p:spPr>
          <a:xfrm>
            <a:off x="3995056" y="2708184"/>
            <a:ext cx="8196944" cy="3236494"/>
          </a:xfrm>
          <a:prstGeom prst="rect">
            <a:avLst/>
          </a:prstGeom>
          <a:ln w="381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endParaRPr lang="en-US" sz="1500" b="1" dirty="0"/>
          </a:p>
          <a:p>
            <a:pPr algn="just"/>
            <a:endParaRPr lang="en-US" sz="1500" b="1" dirty="0"/>
          </a:p>
          <a:p>
            <a:pPr algn="just"/>
            <a:endParaRPr lang="en-US" sz="1500" b="1" dirty="0"/>
          </a:p>
          <a:p>
            <a:pPr algn="just"/>
            <a:r>
              <a:rPr lang="en-US" sz="1500" b="1" dirty="0"/>
              <a:t>RESULTS/MAJOR FINDINGS:    </a:t>
            </a:r>
          </a:p>
          <a:p>
            <a:pPr algn="just"/>
            <a:endParaRPr lang="en-US" sz="1500" dirty="0"/>
          </a:p>
          <a:p>
            <a:pPr marL="285750" indent="-285750" algn="just">
              <a:buFont typeface="Wingdings" panose="05000000000000000000" pitchFamily="2" charset="2"/>
              <a:buChar char="ü"/>
            </a:pPr>
            <a:endParaRPr lang="en-US" sz="1500" dirty="0"/>
          </a:p>
          <a:p>
            <a:pPr marL="285750" indent="-285750" algn="just">
              <a:buFont typeface="Wingdings" panose="05000000000000000000" pitchFamily="2" charset="2"/>
              <a:buChar char="ü"/>
            </a:pPr>
            <a:endParaRPr lang="en-US" sz="1500" dirty="0"/>
          </a:p>
          <a:p>
            <a:pPr algn="just"/>
            <a:endParaRPr lang="en-US" sz="1500" b="1" dirty="0"/>
          </a:p>
          <a:p>
            <a:pPr algn="just"/>
            <a:endParaRPr lang="en-US" sz="1500" b="1" dirty="0"/>
          </a:p>
          <a:p>
            <a:pPr algn="just"/>
            <a:endParaRPr lang="en-US" sz="1500" b="1" dirty="0"/>
          </a:p>
          <a:p>
            <a:pPr algn="just"/>
            <a:endParaRPr lang="en-US" sz="1500" b="1" dirty="0"/>
          </a:p>
          <a:p>
            <a:pPr algn="just"/>
            <a:endParaRPr lang="en-US" sz="1500" b="1" dirty="0"/>
          </a:p>
          <a:p>
            <a:pPr algn="just"/>
            <a:endParaRPr lang="en-US" sz="1500" b="1" dirty="0"/>
          </a:p>
          <a:p>
            <a:pPr algn="just"/>
            <a:endParaRPr lang="en-US" sz="1500" b="1" dirty="0"/>
          </a:p>
          <a:p>
            <a:pPr algn="just"/>
            <a:endParaRPr lang="en-US" sz="1500" b="1" dirty="0"/>
          </a:p>
          <a:p>
            <a:pPr algn="just"/>
            <a:r>
              <a:rPr lang="en-US" sz="1500" b="1" dirty="0"/>
              <a:t>	</a:t>
            </a:r>
            <a:r>
              <a:rPr lang="en-US" sz="1400" i="1" dirty="0" err="1"/>
              <a:t>Vosk</a:t>
            </a:r>
            <a:r>
              <a:rPr lang="en-US" sz="1400" i="1" dirty="0"/>
              <a:t> Working			Custom-Model Working</a:t>
            </a:r>
            <a:endParaRPr lang="en-US" sz="1500" i="1" dirty="0"/>
          </a:p>
          <a:p>
            <a:pPr algn="just"/>
            <a:endParaRPr lang="en-US" sz="1500" b="1" dirty="0"/>
          </a:p>
          <a:p>
            <a:pPr algn="just"/>
            <a:endParaRPr lang="en-US" sz="1500" b="1" dirty="0"/>
          </a:p>
          <a:p>
            <a:pPr algn="just"/>
            <a:r>
              <a:rPr lang="en-IN" sz="1500" b="1" dirty="0" err="1"/>
              <a:t>dddddd</a:t>
            </a:r>
            <a:endParaRPr lang="en-IN" sz="1500" b="1" dirty="0"/>
          </a:p>
        </p:txBody>
      </p:sp>
      <p:sp>
        <p:nvSpPr>
          <p:cNvPr id="10" name="Rectangle 9"/>
          <p:cNvSpPr/>
          <p:nvPr/>
        </p:nvSpPr>
        <p:spPr>
          <a:xfrm>
            <a:off x="3995056" y="5955632"/>
            <a:ext cx="8196944" cy="902368"/>
          </a:xfrm>
          <a:prstGeom prst="rect">
            <a:avLst/>
          </a:prstGeom>
          <a:ln w="381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en-US" sz="1500" b="1" dirty="0"/>
              <a:t>CONCLUSION: </a:t>
            </a:r>
            <a:r>
              <a:rPr lang="en-US" sz="1500" dirty="0"/>
              <a:t>Development a wake word detection model, improving on the inefficient </a:t>
            </a:r>
            <a:r>
              <a:rPr lang="en-US" sz="1500" dirty="0" err="1"/>
              <a:t>Vosk</a:t>
            </a:r>
            <a:r>
              <a:rPr lang="en-US" sz="1500" dirty="0"/>
              <a:t> approach.</a:t>
            </a:r>
            <a:endParaRPr lang="en-US" sz="1500" b="1" dirty="0"/>
          </a:p>
          <a:p>
            <a:pPr algn="just"/>
            <a:r>
              <a:rPr lang="en-US" sz="1500" b="1" dirty="0"/>
              <a:t> </a:t>
            </a:r>
          </a:p>
          <a:p>
            <a:pPr algn="just"/>
            <a:endParaRPr lang="en-IN" sz="1500" b="1" dirty="0"/>
          </a:p>
        </p:txBody>
      </p:sp>
      <p:pic>
        <p:nvPicPr>
          <p:cNvPr id="16" name="Picture 15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086" y="38102"/>
            <a:ext cx="675773" cy="575510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17" name="Rectangle 16"/>
          <p:cNvSpPr/>
          <p:nvPr/>
        </p:nvSpPr>
        <p:spPr>
          <a:xfrm>
            <a:off x="5366656" y="674912"/>
            <a:ext cx="5245197" cy="805542"/>
          </a:xfrm>
          <a:prstGeom prst="rect">
            <a:avLst/>
          </a:prstGeom>
          <a:ln w="381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en-US" sz="1500" b="1" dirty="0"/>
              <a:t>Guide: </a:t>
            </a:r>
            <a:r>
              <a:rPr lang="en-US" sz="1500" dirty="0"/>
              <a:t>Smt. Nutan Kumari</a:t>
            </a:r>
            <a:endParaRPr lang="en-US" sz="1500" b="1" dirty="0"/>
          </a:p>
          <a:p>
            <a:pPr algn="just"/>
            <a:r>
              <a:rPr lang="en-US" sz="1500" b="1" dirty="0"/>
              <a:t>Contact e-mail: </a:t>
            </a:r>
            <a:r>
              <a:rPr lang="en-IN" sz="1600" u="sng" dirty="0">
                <a:hlinkClick r:id="rId3"/>
              </a:rPr>
              <a:t>nutan@sac.isro.gov.in</a:t>
            </a:r>
            <a:endParaRPr lang="en-US" sz="1500" dirty="0"/>
          </a:p>
        </p:txBody>
      </p:sp>
      <p:sp>
        <p:nvSpPr>
          <p:cNvPr id="18" name="Rectangle 17"/>
          <p:cNvSpPr/>
          <p:nvPr/>
        </p:nvSpPr>
        <p:spPr>
          <a:xfrm>
            <a:off x="816429" y="-4"/>
            <a:ext cx="10412185" cy="674913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685800" algn="ctr">
              <a:tabLst>
                <a:tab pos="11201400" algn="l"/>
              </a:tabLst>
            </a:pPr>
            <a:endParaRPr lang="en-IN" dirty="0"/>
          </a:p>
        </p:txBody>
      </p:sp>
      <p:sp>
        <p:nvSpPr>
          <p:cNvPr id="20" name="Rectangle 19"/>
          <p:cNvSpPr/>
          <p:nvPr/>
        </p:nvSpPr>
        <p:spPr>
          <a:xfrm>
            <a:off x="10611853" y="2165684"/>
            <a:ext cx="1580147" cy="553447"/>
          </a:xfrm>
          <a:prstGeom prst="rect">
            <a:avLst/>
          </a:prstGeom>
          <a:ln w="381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500" b="1" dirty="0"/>
              <a:t>02 JAN 2025 to </a:t>
            </a:r>
          </a:p>
          <a:p>
            <a:pPr algn="ctr"/>
            <a:r>
              <a:rPr lang="en-US" sz="1500" b="1" dirty="0"/>
              <a:t>11 APR 2025</a:t>
            </a:r>
            <a:endParaRPr lang="en-IN" sz="15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6F2DFE1-7F08-499E-8021-766BAA448626}"/>
              </a:ext>
            </a:extLst>
          </p:cNvPr>
          <p:cNvSpPr txBox="1"/>
          <p:nvPr/>
        </p:nvSpPr>
        <p:spPr>
          <a:xfrm>
            <a:off x="9574823" y="149469"/>
            <a:ext cx="20046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PCSVD-PCEG-SEDA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A76454A-1741-A651-FF03-99F20246282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99" t="11852" r="13909" b="27927"/>
          <a:stretch/>
        </p:blipFill>
        <p:spPr>
          <a:xfrm>
            <a:off x="10665423" y="740664"/>
            <a:ext cx="1432089" cy="1344168"/>
          </a:xfrm>
          <a:prstGeom prst="rect">
            <a:avLst/>
          </a:prstGeom>
        </p:spPr>
      </p:pic>
      <p:sp>
        <p:nvSpPr>
          <p:cNvPr id="15" name="Rectangle 1">
            <a:extLst>
              <a:ext uri="{FF2B5EF4-FFF2-40B4-BE49-F238E27FC236}">
                <a16:creationId xmlns:a16="http://schemas.microsoft.com/office/drawing/2014/main" id="{2486A494-3231-92C4-1396-462F43C2F9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5056" y="6248876"/>
            <a:ext cx="8196944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Achieved objectives with a custom CNN and real-time prediction system.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Future enhancements will boost practical utility.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80988F29-6818-4E42-4000-B013897DB8B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6616" y="3137836"/>
            <a:ext cx="3429000" cy="3631610"/>
          </a:xfrm>
          <a:prstGeom prst="rect">
            <a:avLst/>
          </a:prstGeom>
        </p:spPr>
      </p:pic>
      <p:sp>
        <p:nvSpPr>
          <p:cNvPr id="22" name="Rectangle 2">
            <a:extLst>
              <a:ext uri="{FF2B5EF4-FFF2-40B4-BE49-F238E27FC236}">
                <a16:creationId xmlns:a16="http://schemas.microsoft.com/office/drawing/2014/main" id="{EE96CE17-5A96-EE3E-E60A-E500F9FFA0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5056" y="2807912"/>
            <a:ext cx="8300029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Custom wake word detection model outperformed </a:t>
            </a:r>
            <a:r>
              <a:rPr kumimoji="0" lang="en-US" altLang="en-US" sz="15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Vosk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in efficiency and accuracy.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Achieved up to [insert %] test accuracy using CNN with MFCC features.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Data augmentation (white noise, time shifting) improved model robustness despite limited data.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Real-time detection system successfully implemented, though constrained by low system specs.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Model showed potential for voice-activated payload systems but requires more data for generalization.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16735487-49CA-BF2B-EC2B-57FDEB52142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78643" y="4272568"/>
            <a:ext cx="4218869" cy="1269277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E8144C7D-A130-AC8D-0608-D68F11AA0E6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92739" y="4308224"/>
            <a:ext cx="3488221" cy="1251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45913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621</TotalTime>
  <Words>217</Words>
  <Application>Microsoft Office PowerPoint</Application>
  <PresentationFormat>Widescreen</PresentationFormat>
  <Paragraphs>61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Wingdings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Training</dc:creator>
  <cp:lastModifiedBy>aaryan singh</cp:lastModifiedBy>
  <cp:revision>56</cp:revision>
  <dcterms:created xsi:type="dcterms:W3CDTF">2017-11-15T06:25:27Z</dcterms:created>
  <dcterms:modified xsi:type="dcterms:W3CDTF">2025-04-10T11:03:53Z</dcterms:modified>
</cp:coreProperties>
</file>